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en.wikipedia.org/wiki/Power_Rangers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en.wikipedia.org/wiki/Power_Rangers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en.wikipedia.org/wiki/Power_Rangers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en.wikipedia.org/wiki/Power_Rangers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en.wikipedia.org/wiki/Power_Rangers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2B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685800"/>
            <a:ext cx="128016" cy="5394960"/>
          </a:xfrm>
          <a:prstGeom prst="rect">
            <a:avLst/>
          </a:prstGeom>
          <a:solidFill>
            <a:srgbClr val="8FD5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3000" y="1005840"/>
            <a:ext cx="7315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200" b="1">
                <a:solidFill>
                  <a:srgbClr val="8FD55D"/>
                </a:solidFill>
                <a:latin typeface="Aptos"/>
              </a:defRPr>
            </a:pPr>
            <a:r>
              <a:t>FIELD NOTES  /  BRIEFING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828800"/>
            <a:ext cx="9875520" cy="2103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3600" b="1">
                <a:solidFill>
                  <a:srgbClr val="F7F7EF"/>
                </a:solidFill>
                <a:latin typeface="Aptos"/>
              </a:defRPr>
            </a:pPr>
            <a:r>
              <a:t>The Power Rangers Franchise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4160520"/>
            <a:ext cx="86868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800" b="0">
                <a:solidFill>
                  <a:srgbClr val="7C8F83"/>
                </a:solidFill>
                <a:latin typeface="Aptos"/>
              </a:defRPr>
            </a:pPr>
            <a:r>
              <a:t>History, Premise, and Evolution of a Superhero Phenomenon</a:t>
            </a:r>
          </a:p>
        </p:txBody>
      </p:sp>
      <p:sp>
        <p:nvSpPr>
          <p:cNvPr id="6" name="Oval 5"/>
          <p:cNvSpPr/>
          <p:nvPr/>
        </p:nvSpPr>
        <p:spPr>
          <a:xfrm>
            <a:off x="10607040" y="5166360"/>
            <a:ext cx="640080" cy="640080"/>
          </a:xfrm>
          <a:prstGeom prst="ellipse">
            <a:avLst/>
          </a:prstGeom>
          <a:solidFill>
            <a:srgbClr val="E877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658368"/>
            <a:ext cx="658368" cy="100584"/>
          </a:xfrm>
          <a:prstGeom prst="rect">
            <a:avLst/>
          </a:prstGeom>
          <a:solidFill>
            <a:srgbClr val="8FD5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332720" y="502920"/>
            <a:ext cx="10972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7C8F83"/>
                </a:solidFill>
                <a:latin typeface="Aptos"/>
              </a:defRPr>
            </a:pPr>
            <a:r>
              <a:t>01  / 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51560"/>
            <a:ext cx="103327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700" b="1">
                <a:solidFill>
                  <a:srgbClr val="192B25"/>
                </a:solidFill>
                <a:latin typeface="Aptos"/>
              </a:defRPr>
            </a:pPr>
            <a:r>
              <a:t>Introduction to Power Rangers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48840"/>
            <a:ext cx="101498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01    Power Rangers is a major American media franchise built around a live-action superhero television series created by Haim Saban, Shuki Levy, and Toei Company.</a:t>
            </a:r>
          </a:p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02    The debut series, Mighty Morphin Power Rangers, premiered on August 28, 1993, on Fox Kids and became an instant pop culture hit.</a:t>
            </a:r>
          </a:p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03    The franchise has spanned 30 television seasons from 1993 to 2023, expanding into films, comics, games, and merchandise.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144768"/>
            <a:ext cx="10515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7C8F83"/>
                </a:solidFill>
                <a:latin typeface="Aptos"/>
              </a:rPr>
              <a:t>Sources: </a:t>
            </a:r>
            <a:r>
              <a:rPr sz="1000">
                <a:solidFill>
                  <a:srgbClr val="7C8F83"/>
                </a:solidFill>
                <a:latin typeface="Aptos"/>
                <a:hlinkClick r:id="rId2"/>
              </a:rPr>
              <a:t>S1</a:t>
            </a:r>
          </a:p>
          <a:p>
            <a:pPr>
              <a:defRPr sz="900">
                <a:solidFill>
                  <a:srgbClr val="7C8F83"/>
                </a:solidFill>
                <a:latin typeface="Aptos"/>
              </a:defRPr>
            </a:pPr>
            <a:r>
              <a:t>Blue bullets are supported by web research.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192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658368"/>
            <a:ext cx="658368" cy="100584"/>
          </a:xfrm>
          <a:prstGeom prst="rect">
            <a:avLst/>
          </a:prstGeom>
          <a:solidFill>
            <a:srgbClr val="E877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332720" y="502920"/>
            <a:ext cx="10972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7C8F83"/>
                </a:solidFill>
                <a:latin typeface="Aptos"/>
              </a:defRPr>
            </a:pPr>
            <a:r>
              <a:t>02  / 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51560"/>
            <a:ext cx="103327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700" b="1">
                <a:solidFill>
                  <a:srgbClr val="192B25"/>
                </a:solidFill>
                <a:latin typeface="Aptos"/>
              </a:defRPr>
            </a:pPr>
            <a:r>
              <a:t>Origins and Super Sentai Adaptation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48840"/>
            <a:ext cx="101498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01    The franchise adapts characters, plots, and action footage from the Japanese tokusatsu franchise Super Sentai for Western audiences.</a:t>
            </a:r>
          </a:p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02    Production splices original English-speaking actor scenes with dubbed Japanese footage of monster fights and giant robot battles.</a:t>
            </a:r>
          </a:p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03    Haim Saban's idea took root after discovering Choudenshi Bioman in Japan, eventually launching successfully via Fox Kids in 1992–1993.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144768"/>
            <a:ext cx="10515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7C8F83"/>
                </a:solidFill>
                <a:latin typeface="Aptos"/>
              </a:rPr>
              <a:t>Sources: </a:t>
            </a:r>
            <a:r>
              <a:rPr sz="1000">
                <a:solidFill>
                  <a:srgbClr val="7C8F83"/>
                </a:solidFill>
                <a:latin typeface="Aptos"/>
                <a:hlinkClick r:id="rId2"/>
              </a:rPr>
              <a:t>S1</a:t>
            </a:r>
          </a:p>
          <a:p>
            <a:pPr>
              <a:defRPr sz="900">
                <a:solidFill>
                  <a:srgbClr val="7C8F83"/>
                </a:solidFill>
                <a:latin typeface="Aptos"/>
              </a:defRPr>
            </a:pPr>
            <a:r>
              <a:t>Blue bullets are supported by web research.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192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658368"/>
            <a:ext cx="658368" cy="100584"/>
          </a:xfrm>
          <a:prstGeom prst="rect">
            <a:avLst/>
          </a:prstGeom>
          <a:solidFill>
            <a:srgbClr val="8FD5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332720" y="502920"/>
            <a:ext cx="10972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7C8F83"/>
                </a:solidFill>
                <a:latin typeface="Aptos"/>
              </a:defRPr>
            </a:pPr>
            <a:r>
              <a:t>03  / 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51560"/>
            <a:ext cx="103327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700" b="1">
                <a:solidFill>
                  <a:srgbClr val="192B25"/>
                </a:solidFill>
                <a:latin typeface="Aptos"/>
              </a:defRPr>
            </a:pPr>
            <a:r>
              <a:t>Core Premise and Show Conventions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48840"/>
            <a:ext cx="101498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01    Each series features a mentor recruiting a team of youths who morph into color-coded superheroes wearing spandex suits and helmets.</a:t>
            </a:r>
          </a:p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02    Rangers possess enhanced combat abilities and pilot giant assault machines called Zords that combine into powerful Megazords.</a:t>
            </a:r>
          </a:p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03    Teams follow strict conventions, such as not using powers for personal gain and keeping secret identities to prevent losing their powers.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144768"/>
            <a:ext cx="10515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7C8F83"/>
                </a:solidFill>
                <a:latin typeface="Aptos"/>
              </a:rPr>
              <a:t>Sources: </a:t>
            </a:r>
            <a:r>
              <a:rPr sz="1000">
                <a:solidFill>
                  <a:srgbClr val="7C8F83"/>
                </a:solidFill>
                <a:latin typeface="Aptos"/>
                <a:hlinkClick r:id="rId2"/>
              </a:rPr>
              <a:t>S1</a:t>
            </a:r>
          </a:p>
          <a:p>
            <a:pPr>
              <a:defRPr sz="900">
                <a:solidFill>
                  <a:srgbClr val="7C8F83"/>
                </a:solidFill>
                <a:latin typeface="Aptos"/>
              </a:defRPr>
            </a:pPr>
            <a:r>
              <a:t>Blue bullets are supported by web research.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192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658368"/>
            <a:ext cx="658368" cy="100584"/>
          </a:xfrm>
          <a:prstGeom prst="rect">
            <a:avLst/>
          </a:prstGeom>
          <a:solidFill>
            <a:srgbClr val="E877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332720" y="502920"/>
            <a:ext cx="10972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7C8F83"/>
                </a:solidFill>
                <a:latin typeface="Aptos"/>
              </a:defRPr>
            </a:pPr>
            <a:r>
              <a:t>04  / 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51560"/>
            <a:ext cx="103327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700" b="1">
                <a:solidFill>
                  <a:srgbClr val="192B25"/>
                </a:solidFill>
                <a:latin typeface="Aptos"/>
              </a:defRPr>
            </a:pPr>
            <a:r>
              <a:t>The Saban Era and Disney Acquisition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48840"/>
            <a:ext cx="101498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01    Saban Entertainment produced and distributed the series until 2001, generating over $6 billion in toy sales by 2001.</a:t>
            </a:r>
          </a:p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02    The Walt Disney Company acquired the franchise in 2001 through its buyout of Fox Family Worldwide, airing episodes on ABC and Jetix.</a:t>
            </a:r>
          </a:p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03    Disney moved production to New Zealand and planned to conclude the series before producing RPM as its final Disney-era season.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144768"/>
            <a:ext cx="10515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7C8F83"/>
                </a:solidFill>
                <a:latin typeface="Aptos"/>
              </a:rPr>
              <a:t>Sources: </a:t>
            </a:r>
            <a:r>
              <a:rPr sz="1000">
                <a:solidFill>
                  <a:srgbClr val="7C8F83"/>
                </a:solidFill>
                <a:latin typeface="Aptos"/>
                <a:hlinkClick r:id="rId2"/>
              </a:rPr>
              <a:t>S1</a:t>
            </a:r>
          </a:p>
          <a:p>
            <a:pPr>
              <a:defRPr sz="900">
                <a:solidFill>
                  <a:srgbClr val="7C8F83"/>
                </a:solidFill>
                <a:latin typeface="Aptos"/>
              </a:defRPr>
            </a:pPr>
            <a:r>
              <a:t>Blue bullets are supported by web research.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192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658368"/>
            <a:ext cx="658368" cy="100584"/>
          </a:xfrm>
          <a:prstGeom prst="rect">
            <a:avLst/>
          </a:prstGeom>
          <a:solidFill>
            <a:srgbClr val="8FD5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332720" y="502920"/>
            <a:ext cx="10972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7C8F83"/>
                </a:solidFill>
                <a:latin typeface="Aptos"/>
              </a:defRPr>
            </a:pPr>
            <a:r>
              <a:t>05  / 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51560"/>
            <a:ext cx="103327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700" b="1">
                <a:solidFill>
                  <a:srgbClr val="192B25"/>
                </a:solidFill>
                <a:latin typeface="Aptos"/>
              </a:defRPr>
            </a:pPr>
            <a:r>
              <a:t>Hasbro Era and Modern Evolution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48840"/>
            <a:ext cx="101498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01    In 2010, Haim Saban bought back the franchise for $43 million, producing new seasons like Samurai and Dino Fury on Nickelodeon.</a:t>
            </a:r>
          </a:p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02    American toy giant Hasbro acquired Power Rangers from Saban in 2018 for $522 million in cash and stock.</a:t>
            </a:r>
          </a:p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03    Recent years saw the series transition to streaming on Netflix with Dino Fury and Cosmic Fury, alongside ongoing plans for future reboots.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144768"/>
            <a:ext cx="10515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7C8F83"/>
                </a:solidFill>
                <a:latin typeface="Aptos"/>
              </a:rPr>
              <a:t>Sources: </a:t>
            </a:r>
            <a:r>
              <a:rPr sz="1000">
                <a:solidFill>
                  <a:srgbClr val="7C8F83"/>
                </a:solidFill>
                <a:latin typeface="Aptos"/>
                <a:hlinkClick r:id="rId2"/>
              </a:rPr>
              <a:t>S1</a:t>
            </a:r>
          </a:p>
          <a:p>
            <a:pPr>
              <a:defRPr sz="900">
                <a:solidFill>
                  <a:srgbClr val="7C8F83"/>
                </a:solidFill>
                <a:latin typeface="Aptos"/>
              </a:defRPr>
            </a:pPr>
            <a:r>
              <a:t>Blue bullets are supported by web research.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192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