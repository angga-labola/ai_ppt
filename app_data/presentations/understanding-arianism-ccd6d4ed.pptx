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bibleanalysis.org/understanding-arianism-history-beliefs-and-impact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bibleanalysis.org/understanding-arianism-history-beliefs-and-impact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bibleanalysis.org/understanding-arianism-history-beliefs-and-impact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bibleanalysis.org/understanding-arianism-history-beliefs-and-impact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bibleanalysis.org/understanding-arianism-history-beliefs-and-impact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B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685800"/>
            <a:ext cx="128016" cy="5394960"/>
          </a:xfrm>
          <a:prstGeom prst="rect">
            <a:avLst/>
          </a:prstGeom>
          <a:solidFill>
            <a:srgbClr val="8FD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1005840"/>
            <a:ext cx="7315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1">
                <a:solidFill>
                  <a:srgbClr val="8FD55D"/>
                </a:solidFill>
                <a:latin typeface="Aptos"/>
              </a:defRPr>
            </a:pPr>
            <a:r>
              <a:t>FIELD NOTES  / 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87552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3600" b="1">
                <a:solidFill>
                  <a:srgbClr val="F7F7EF"/>
                </a:solidFill>
                <a:latin typeface="Aptos"/>
              </a:defRPr>
            </a:pPr>
            <a:r>
              <a:t>Understanding Arianism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4160520"/>
            <a:ext cx="8686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800" b="0">
                <a:solidFill>
                  <a:srgbClr val="7C8F83"/>
                </a:solidFill>
                <a:latin typeface="Aptos"/>
              </a:defRPr>
            </a:pPr>
            <a:r>
              <a:t>History, Beliefs, and Impact of the Early Christian Movement</a:t>
            </a:r>
          </a:p>
        </p:txBody>
      </p:sp>
      <p:sp>
        <p:nvSpPr>
          <p:cNvPr id="6" name="Oval 5"/>
          <p:cNvSpPr/>
          <p:nvPr/>
        </p:nvSpPr>
        <p:spPr>
          <a:xfrm>
            <a:off x="10607040" y="5166360"/>
            <a:ext cx="640080" cy="640080"/>
          </a:xfrm>
          <a:prstGeom prst="ellipse">
            <a:avLst/>
          </a:prstGeom>
          <a:solidFill>
            <a:srgbClr val="E8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8FD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01  / 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Introduction to Arianism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2D69AB"/>
                </a:solidFill>
                <a:latin typeface="Aptos"/>
              </a:defRPr>
            </a:pPr>
            <a:r>
              <a:t>01    Arianism emerged in early Christianity as a significant theological doctrine during the fourth century.</a:t>
            </a:r>
          </a:p>
          <a:p>
            <a:pPr>
              <a:spcAft>
                <a:spcPts val="1800"/>
              </a:spcAft>
              <a:defRPr sz="2000">
                <a:solidFill>
                  <a:srgbClr val="2D69AB"/>
                </a:solidFill>
                <a:latin typeface="Aptos"/>
              </a:defRPr>
            </a:pPr>
            <a:r>
              <a:t>02    It sparked intense debate and controversy throughout the Roman Empire regarding the nature of Christ.</a:t>
            </a:r>
          </a:p>
          <a:p>
            <a:pPr>
              <a:spcAft>
                <a:spcPts val="1800"/>
              </a:spcAft>
              <a:defRPr sz="2000">
                <a:solidFill>
                  <a:srgbClr val="2D69AB"/>
                </a:solidFill>
                <a:latin typeface="Aptos"/>
              </a:defRPr>
            </a:pPr>
            <a:r>
              <a:t>03    The movement is named after Arius, a Christian presbyter from Alexandria, Egypt.</a:t>
            </a:r>
          </a:p>
          <a:p>
            <a:pPr>
              <a:spcAft>
                <a:spcPts val="1800"/>
              </a:spcAft>
              <a:defRPr sz="2000">
                <a:solidFill>
                  <a:srgbClr val="2D69AB"/>
                </a:solidFill>
                <a:latin typeface="Aptos"/>
              </a:defRPr>
            </a:pPr>
            <a:r>
              <a:t>04    Disputes over Arianism challenged the developing orthodox doctrine of the Trinity and shaped Christian history.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44768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7C8F83"/>
                </a:solidFill>
                <a:latin typeface="Aptos"/>
              </a:rPr>
              <a:t>Sources: </a:t>
            </a:r>
            <a:r>
              <a:rPr sz="1000">
                <a:solidFill>
                  <a:srgbClr val="7C8F83"/>
                </a:solidFill>
                <a:latin typeface="Aptos"/>
                <a:hlinkClick r:id="rId2"/>
              </a:rPr>
              <a:t>W1</a:t>
            </a:r>
          </a:p>
          <a:p>
            <a:pPr>
              <a:defRPr sz="900">
                <a:solidFill>
                  <a:srgbClr val="7C8F83"/>
                </a:solidFill>
                <a:latin typeface="Aptos"/>
              </a:defRPr>
            </a:pPr>
            <a:r>
              <a:t>Blue bullets are supported by web research.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E8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02  / 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Who Was Arius?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2D69AB"/>
                </a:solidFill>
                <a:latin typeface="Aptos"/>
              </a:defRPr>
            </a:pPr>
            <a:r>
              <a:t>01    Arius was born around 256 AD and became a respected presbyter and teacher in Alexandria.</a:t>
            </a:r>
          </a:p>
          <a:p>
            <a:pPr>
              <a:spcAft>
                <a:spcPts val="1800"/>
              </a:spcAft>
              <a:defRPr sz="2000">
                <a:solidFill>
                  <a:srgbClr val="2D69AB"/>
                </a:solidFill>
                <a:latin typeface="Aptos"/>
              </a:defRPr>
            </a:pPr>
            <a:r>
              <a:t>02    He was known for an ascetic lifestyle and persuasive rhetoric that helped spread his teachings.</a:t>
            </a:r>
          </a:p>
          <a:p>
            <a:pPr>
              <a:spcAft>
                <a:spcPts val="1800"/>
              </a:spcAft>
              <a:defRPr sz="2000">
                <a:solidFill>
                  <a:srgbClr val="2D69AB"/>
                </a:solidFill>
                <a:latin typeface="Aptos"/>
              </a:defRPr>
            </a:pPr>
            <a:r>
              <a:t>03    Around 318 AD, Arius began openly questioning the prevailing understanding of Christ's divinity.</a:t>
            </a:r>
          </a:p>
          <a:p>
            <a:pPr>
              <a:spcAft>
                <a:spcPts val="1800"/>
              </a:spcAft>
              <a:defRPr sz="2000">
                <a:solidFill>
                  <a:srgbClr val="2D69AB"/>
                </a:solidFill>
                <a:latin typeface="Aptos"/>
              </a:defRPr>
            </a:pPr>
            <a:r>
              <a:t>04    He argued for a subordinate relationship between Jesus Christ and God the Father.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44768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7C8F83"/>
                </a:solidFill>
                <a:latin typeface="Aptos"/>
              </a:rPr>
              <a:t>Sources: </a:t>
            </a:r>
            <a:r>
              <a:rPr sz="1000">
                <a:solidFill>
                  <a:srgbClr val="7C8F83"/>
                </a:solidFill>
                <a:latin typeface="Aptos"/>
                <a:hlinkClick r:id="rId2"/>
              </a:rPr>
              <a:t>W1</a:t>
            </a:r>
          </a:p>
          <a:p>
            <a:pPr>
              <a:defRPr sz="900">
                <a:solidFill>
                  <a:srgbClr val="7C8F83"/>
                </a:solidFill>
                <a:latin typeface="Aptos"/>
              </a:defRPr>
            </a:pPr>
            <a:r>
              <a:t>Blue bullets are supported by web research.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8FD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03  / 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Core Beliefs of Arianism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2D69AB"/>
                </a:solidFill>
                <a:latin typeface="Aptos"/>
              </a:defRPr>
            </a:pPr>
            <a:r>
              <a:t>01    At the heart of Arianism is the assertion that Jesus Christ is not co-eternal with God.</a:t>
            </a:r>
          </a:p>
          <a:p>
            <a:pPr>
              <a:spcAft>
                <a:spcPts val="1800"/>
              </a:spcAft>
              <a:defRPr sz="2000">
                <a:solidFill>
                  <a:srgbClr val="2D69AB"/>
                </a:solidFill>
                <a:latin typeface="Aptos"/>
              </a:defRPr>
            </a:pPr>
            <a:r>
              <a:t>02    Arius taught that only God the Father is truly eternal and unbegotten.</a:t>
            </a:r>
          </a:p>
          <a:p>
            <a:pPr>
              <a:spcAft>
                <a:spcPts val="1800"/>
              </a:spcAft>
              <a:defRPr sz="2000">
                <a:solidFill>
                  <a:srgbClr val="2D69AB"/>
                </a:solidFill>
                <a:latin typeface="Aptos"/>
              </a:defRPr>
            </a:pPr>
            <a:r>
              <a:t>03    The Son was created by the Father out of nothing before the world began.</a:t>
            </a:r>
          </a:p>
          <a:p>
            <a:pPr>
              <a:spcAft>
                <a:spcPts val="1800"/>
              </a:spcAft>
              <a:defRPr sz="2000">
                <a:solidFill>
                  <a:srgbClr val="2D69AB"/>
                </a:solidFill>
                <a:latin typeface="Aptos"/>
              </a:defRPr>
            </a:pPr>
            <a:r>
              <a:t>04    Arius famously summarized this belief with the phrase, "There was a time when the Son was not."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44768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7C8F83"/>
                </a:solidFill>
                <a:latin typeface="Aptos"/>
              </a:rPr>
              <a:t>Sources: </a:t>
            </a:r>
            <a:r>
              <a:rPr sz="1000">
                <a:solidFill>
                  <a:srgbClr val="7C8F83"/>
                </a:solidFill>
                <a:latin typeface="Aptos"/>
                <a:hlinkClick r:id="rId2"/>
              </a:rPr>
              <a:t>W1</a:t>
            </a:r>
          </a:p>
          <a:p>
            <a:pPr>
              <a:defRPr sz="900">
                <a:solidFill>
                  <a:srgbClr val="7C8F83"/>
                </a:solidFill>
                <a:latin typeface="Aptos"/>
              </a:defRPr>
            </a:pPr>
            <a:r>
              <a:t>Blue bullets are supported by web research.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E8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04  / 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Theological Arguments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2D69AB"/>
                </a:solidFill>
                <a:latin typeface="Aptos"/>
              </a:defRPr>
            </a:pPr>
            <a:r>
              <a:t>01    Arianism explicitly denies the full divinity of Christ as later defined by orthodox Christianity.</a:t>
            </a:r>
          </a:p>
          <a:p>
            <a:pPr>
              <a:spcAft>
                <a:spcPts val="1800"/>
              </a:spcAft>
              <a:defRPr sz="2000">
                <a:solidFill>
                  <a:srgbClr val="2D69AB"/>
                </a:solidFill>
                <a:latin typeface="Aptos"/>
              </a:defRPr>
            </a:pPr>
            <a:r>
              <a:t>02    Arius viewed Jesus as the highest of all created beings rather than equal to the Father.</a:t>
            </a:r>
          </a:p>
          <a:p>
            <a:pPr>
              <a:spcAft>
                <a:spcPts val="1800"/>
              </a:spcAft>
              <a:defRPr sz="2000">
                <a:solidFill>
                  <a:srgbClr val="2D69AB"/>
                </a:solidFill>
                <a:latin typeface="Aptos"/>
              </a:defRPr>
            </a:pPr>
            <a:r>
              <a:t>03    Jesus was considered worthy of worship and obedience despite his subordinate status.</a:t>
            </a:r>
          </a:p>
          <a:p>
            <a:pPr>
              <a:spcAft>
                <a:spcPts val="1800"/>
              </a:spcAft>
              <a:defRPr sz="2000">
                <a:solidFill>
                  <a:srgbClr val="2D69AB"/>
                </a:solidFill>
                <a:latin typeface="Aptos"/>
              </a:defRPr>
            </a:pPr>
            <a:r>
              <a:t>04    This doctrine directly contradicted the Trinity doctrine holding that Father, Son, and Holy Spirit share one essence.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44768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7C8F83"/>
                </a:solidFill>
                <a:latin typeface="Aptos"/>
              </a:rPr>
              <a:t>Sources: </a:t>
            </a:r>
            <a:r>
              <a:rPr sz="1000">
                <a:solidFill>
                  <a:srgbClr val="7C8F83"/>
                </a:solidFill>
                <a:latin typeface="Aptos"/>
                <a:hlinkClick r:id="rId2"/>
              </a:rPr>
              <a:t>W1</a:t>
            </a:r>
          </a:p>
          <a:p>
            <a:pPr>
              <a:defRPr sz="900">
                <a:solidFill>
                  <a:srgbClr val="7C8F83"/>
                </a:solidFill>
                <a:latin typeface="Aptos"/>
              </a:defRPr>
            </a:pPr>
            <a:r>
              <a:t>Blue bullets are supported by web research.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8FD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05  / 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The Arian Controversy and Council of Nicaea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2D69AB"/>
                </a:solidFill>
                <a:latin typeface="Aptos"/>
              </a:defRPr>
            </a:pPr>
            <a:r>
              <a:t>01    The growing influence of Arius and his followers caused a major crisis within the church.</a:t>
            </a:r>
          </a:p>
          <a:p>
            <a:pPr>
              <a:spcAft>
                <a:spcPts val="1800"/>
              </a:spcAft>
              <a:defRPr sz="2000">
                <a:solidFill>
                  <a:srgbClr val="2D69AB"/>
                </a:solidFill>
                <a:latin typeface="Aptos"/>
              </a:defRPr>
            </a:pPr>
            <a:r>
              <a:t>02    Bishops and theologians throughout the Roman Empire took opposing sides on the issue.</a:t>
            </a:r>
          </a:p>
          <a:p>
            <a:pPr>
              <a:spcAft>
                <a:spcPts val="1800"/>
              </a:spcAft>
              <a:defRPr sz="2000">
                <a:solidFill>
                  <a:srgbClr val="2D69AB"/>
                </a:solidFill>
                <a:latin typeface="Aptos"/>
              </a:defRPr>
            </a:pPr>
            <a:r>
              <a:t>03    Emperor Constantine convened the First Council of Nicaea in 325 AD to resolve the division.</a:t>
            </a:r>
          </a:p>
          <a:p>
            <a:pPr>
              <a:spcAft>
                <a:spcPts val="1800"/>
              </a:spcAft>
              <a:defRPr sz="2000">
                <a:solidFill>
                  <a:srgbClr val="2D69AB"/>
                </a:solidFill>
                <a:latin typeface="Aptos"/>
              </a:defRPr>
            </a:pPr>
            <a:r>
              <a:t>04    The council ultimately rejected Arianism and produced the Nicene Creed to affirm orthodox faith.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44768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7C8F83"/>
                </a:solidFill>
                <a:latin typeface="Aptos"/>
              </a:rPr>
              <a:t>Sources: </a:t>
            </a:r>
            <a:r>
              <a:rPr sz="1000">
                <a:solidFill>
                  <a:srgbClr val="7C8F83"/>
                </a:solidFill>
                <a:latin typeface="Aptos"/>
                <a:hlinkClick r:id="rId2"/>
              </a:rPr>
              <a:t>W1</a:t>
            </a:r>
          </a:p>
          <a:p>
            <a:pPr>
              <a:defRPr sz="900">
                <a:solidFill>
                  <a:srgbClr val="7C8F83"/>
                </a:solidFill>
                <a:latin typeface="Aptos"/>
              </a:defRPr>
            </a:pPr>
            <a:r>
              <a:t>Blue bullets are supported by web research.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