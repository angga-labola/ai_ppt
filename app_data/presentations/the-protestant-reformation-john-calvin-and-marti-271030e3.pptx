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85800"/>
            <a:ext cx="128016" cy="5394960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00584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8FD55D"/>
                </a:solidFill>
                <a:latin typeface="Aptos"/>
              </a:defRPr>
            </a:pPr>
            <a:r>
              <a:t>FIELD NOTES  / 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8755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F7F7EF"/>
                </a:solidFill>
                <a:latin typeface="Aptos"/>
              </a:defRPr>
            </a:pPr>
            <a:r>
              <a:t>The Protestant Reformation: John Calvin and Martin Luther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605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7C8F83"/>
                </a:solidFill>
                <a:latin typeface="Aptos"/>
              </a:defRPr>
            </a:pPr>
            <a:r>
              <a:t>A Comparative Overview of Two Central Reformers and Their Theological Legacies</a:t>
            </a:r>
          </a:p>
        </p:txBody>
      </p:sp>
      <p:sp>
        <p:nvSpPr>
          <p:cNvPr id="6" name="Oval 5"/>
          <p:cNvSpPr/>
          <p:nvPr/>
        </p:nvSpPr>
        <p:spPr>
          <a:xfrm>
            <a:off x="10607040" y="5166360"/>
            <a:ext cx="640080" cy="640080"/>
          </a:xfrm>
          <a:prstGeom prst="ellipse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01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Introduction to the Reformation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The Protestant Reformation fundamentally transformed Western Christian history during the 16th century.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Key leaders challenged the authority, theology, and practices of the Roman Catholic Church.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Martin Luther and John Calvin emerged as two of the most influential figures in this religious movement.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Source: https://en.wikipedia.org/wiki/John_Calvin and https://en.wikipedia.org/wiki/Martin_Luther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02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Martin Luther: Origins and Early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Born on November 10, 1483, in Eisleben, Holy Roman Empire, to parents Hans and Margarethe Luder (later Luther).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Educated at the University of Erfurt, receiving his Master of Arts degree in 1505.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Entered St. Augustine's Monastery in Erfurt in July 1505 following a profound spiritual turning point during a thunderstorm.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Source: https://en.wikipedia.org/wiki/Martin_Luther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03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Martin Luther: Priesthood and Theses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Ordained to the priesthood in 1507 at the Cathedral Church of St. Mary in Erfurt.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Authored the Ninety-five Theses in 1517, initiating an international debate on indulgences and papal authority.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Condemned as an outlaw by Holy Roman Emperor Charles V at the Diet of Worms in 1521 following his excommunication.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Source: https://en.wikipedia.org/wiki/Martin_Luther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04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Luther's Core Theological Teachings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Taught that justification is received solely as a free gift of God's grace through faith in Jesus Christ, not by human works.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Advanced the principle of Sola Scriptura, holding the Bible as the only source of divinely revealed knowledge.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Promoted the priesthood of all believers and viewed good works as the necessary fruit of a living faith.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Source: https://en.wikipedia.org/wiki/Martin_Luther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05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Luther's Cultural and Personal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Translated the Bible into German (1534), making Scripture accessible to laity and shaping the German language.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Set a model for clerical marriage through his 1525 marriage to former nun Katharina von Bora.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Expressed severe antisemitic views in his later writings, calling for the expulsion of Jews and destruction of synagogues.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Source: https://en.wikipedia.org/wiki/Martin_Luther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06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John Calvin: Background and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Born Jehan Cauvin on July 10, 1509, in Noyon, Picardy, France, to Gérard Cauvin and Jeanne le Franc.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Originally trained as a humanist lawyer at the Universities of Orléans and Bourges, learning Koine Greek.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Experienced a religious conversion that led to his break from the Roman Catholic Church around 1530.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Source: https://en.wikipedia.org/wiki/John_Calvin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07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John Calvin: Institutes and Geneva Ministry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Published the seminal theological work Institutes of the Christian Religion in Basel in 1536.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Recruited by William Farel to join the Reformation in Geneva, emphasizing rigorous preaching and church reform.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Returned to Geneva in 1541 after a period in Strasbourg, successfully introducing new forms of church government and liturgy.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Source: https://en.wikipedia.org/wiki/John_Calvin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08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Calvin's Distinctive Theological Ideas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Principal figure in developing Calvinism, emphasizing God's absolute sovereignty and predestination.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Emphasized doctrines such as monergism, covenantalism, and imputed righteousness.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Advocated the regulative principle of worship, ensuring practices closely aligned with scriptural mandates.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Source: https://en.wikipedia.org/wiki/John_Calvin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09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Controversies and Final Years in Geneva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Faced political resistance from powerful local families trying to curb his authority in Geneva.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Played a role in the denunciation and execution of Michael Servetus for heretical views on the Trinity in 1553.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Spent his final years promoting the Reformation throughout Europe until his death on May 27, 1564.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Source: https://en.wikipedia.org/wiki/John_Calvin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10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Global Spread of Reformed Traditions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Calvinist doctrines heavily influenced worldwide Reformed, Continental Reformed, and Congregational churches.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Presbyterianism and Reformed Anglican traditions look to Calvin as a chief expositor of their beliefs.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Confessional documents like the Heidelberg Catechism and Westminster Confession helped codify these traditions.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Source: https://en.wikipedia.org/wiki/John_Calvin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11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Comparative Theologies: Luther vs. Calvin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Both reformers rejected papal supremacy and championed justification by faith alone.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Luther focused heavily on the theology of the cross and sacramental union, retaining traditional liturgical elements where not forbidden.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Calvin emphasized divine sovereignty, systemic theology, and a stricter biblical regulation of worship governance.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Source: https://en.wikipedia.org/wiki/John_Calvin and https://en.wikipedia.org/wiki/Martin_Luther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12  / 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Historical Legacy of the Reformation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Fundamentally reshaped European religious, cultural, and political landscapes.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Vernacular Bible translations permanently transformed literacy, education, and language development across Europe.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Their enduring theological frameworks continue to guide millions of Protestants globally today.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04    Source: https://en.wikipedia.org/wiki/John_Calvin and https://en.wikipedia.org/wiki/Martin_Luther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