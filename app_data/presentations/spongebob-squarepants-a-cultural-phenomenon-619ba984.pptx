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ebsco.com/research-starters/communication-and-mass-media/spongebob-squarepants" TargetMode="External"/><Relationship Id="rId3" Type="http://schemas.openxmlformats.org/officeDocument/2006/relationships/hyperlink" Target="https://en.wikipedia.org/wiki/SpongeBob_SquarePant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ebsco.com/research-starters/communication-and-mass-media/spongebob-squarepants" TargetMode="External"/><Relationship Id="rId3" Type="http://schemas.openxmlformats.org/officeDocument/2006/relationships/hyperlink" Target="https://spinnaker-watches.com/blogs/deep-time-chronicles/spongebob-squarepants-the-ultimate-behind-the-scenes-scoop" TargetMode="External"/><Relationship Id="rId4" Type="http://schemas.openxmlformats.org/officeDocument/2006/relationships/hyperlink" Target="https://en.wikipedia.org/wiki/SpongeBob_SquarePants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ebsco.com/research-starters/communication-and-mass-media/spongebob-squarepants" TargetMode="External"/><Relationship Id="rId3" Type="http://schemas.openxmlformats.org/officeDocument/2006/relationships/hyperlink" Target="https://en.wikipedia.org/wiki/SpongeBob_SquarePants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ebsco.com/research-starters/communication-and-mass-media/spongebob-squarepants" TargetMode="External"/><Relationship Id="rId3" Type="http://schemas.openxmlformats.org/officeDocument/2006/relationships/hyperlink" Target="https://en.wikipedia.org/wiki/SpongeBob_SquarePant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ebsco.com/research-starters/communication-and-mass-media/spongebob-squarepants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ebsco.com/research-starters/communication-and-mass-media/spongebob-squarepant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SpongeBob_SquarePant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SpongeBob_SquarePants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ebsco.com/research-starters/communication-and-mass-media/spongebob-squarepants" TargetMode="External"/><Relationship Id="rId3" Type="http://schemas.openxmlformats.org/officeDocument/2006/relationships/hyperlink" Target="https://en.wikipedia.org/wiki/SpongeBob_SquarePants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ebsco.com/research-starters/communication-and-mass-media/spongebob-squarepants" TargetMode="External"/><Relationship Id="rId3" Type="http://schemas.openxmlformats.org/officeDocument/2006/relationships/hyperlink" Target="https://en.wikipedia.org/wiki/SpongeBob_SquarePants" TargetMode="External"/><Relationship Id="rId4" Type="http://schemas.openxmlformats.org/officeDocument/2006/relationships/hyperlink" Target="https://spinnaker-watches.com/blogs/deep-time-chronicles/spongebob-squarepants-the-ultimate-behind-the-scenes-scoop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128016" cy="5394960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00584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8FD55D"/>
                </a:solidFill>
                <a:latin typeface="Aptos"/>
              </a:defRPr>
            </a:pPr>
            <a:r>
              <a:t>FIELD NOTES  / 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F7F7EF"/>
                </a:solidFill>
                <a:latin typeface="Aptos"/>
              </a:defRPr>
            </a:pPr>
            <a:r>
              <a:t>SpongeBob SquarePants: A Cultural Phenomenon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605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7C8F83"/>
                </a:solidFill>
                <a:latin typeface="Aptos"/>
              </a:defRPr>
            </a:pPr>
            <a:r>
              <a:t>An Informative Overview of the Iconic Animated Series</a:t>
            </a:r>
          </a:p>
        </p:txBody>
      </p:sp>
      <p:sp>
        <p:nvSpPr>
          <p:cNvPr id="6" name="Oval 5"/>
          <p:cNvSpPr/>
          <p:nvPr/>
        </p:nvSpPr>
        <p:spPr>
          <a:xfrm>
            <a:off x="10607040" y="5166360"/>
            <a:ext cx="640080" cy="640080"/>
          </a:xfrm>
          <a:prstGeom prst="ellipse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01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Introduction to SpongeBob SquarePants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SpongeBob SquarePants is an American animated comedy series created by Stephen Hillenburg [W1, W2].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The series premiered on Nickelodeon in May 1999 following a preview [W1, W2].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It has become one of the longest-running and highest-rated programs on the network [W2].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W1</a:t>
            </a:r>
            <a:r>
              <a:rPr sz="1000">
                <a:solidFill>
                  <a:srgbClr val="7C8F83"/>
                </a:solidFill>
              </a:rPr>
              <a:t>, </a:t>
            </a:r>
            <a:r>
              <a:rPr sz="1000">
                <a:solidFill>
                  <a:srgbClr val="7C8F83"/>
                </a:solidFill>
                <a:latin typeface="Aptos"/>
                <a:hlinkClick r:id="rId3"/>
              </a:rPr>
              <a:t>W2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02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Origins and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Creator Stephen Hillenburg studied marine science before pursuing animation [W3].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Many early concepts originated from an educational comic book called The Intertidal Zone [W2].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Hillenburg combined his background in marine biology with humor and surreal sitcom elements [W1, W2].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W1</a:t>
            </a:r>
            <a:r>
              <a:rPr sz="1000">
                <a:solidFill>
                  <a:srgbClr val="7C8F83"/>
                </a:solidFill>
              </a:rPr>
              <a:t>, </a:t>
            </a:r>
            <a:r>
              <a:rPr sz="1000">
                <a:solidFill>
                  <a:srgbClr val="7C8F83"/>
                </a:solidFill>
                <a:latin typeface="Aptos"/>
                <a:hlinkClick r:id="rId3"/>
              </a:rPr>
              <a:t>W3</a:t>
            </a:r>
            <a:r>
              <a:rPr sz="1000">
                <a:solidFill>
                  <a:srgbClr val="7C8F83"/>
                </a:solidFill>
              </a:rPr>
              <a:t>, </a:t>
            </a:r>
            <a:r>
              <a:rPr sz="1000">
                <a:solidFill>
                  <a:srgbClr val="7C8F83"/>
                </a:solidFill>
                <a:latin typeface="Aptos"/>
                <a:hlinkClick r:id="rId4"/>
              </a:rPr>
              <a:t>W2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03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The Setting: Bikini Bottom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The fictional underwater city of Bikini Bottom serves as the primary setting [W1, W2].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Residents live in whimsical structures, such as SpongeBob's pineapple house [W1].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The environment blends marine concepts with everyday human town features [W1].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W1</a:t>
            </a:r>
            <a:r>
              <a:rPr sz="1000">
                <a:solidFill>
                  <a:srgbClr val="7C8F83"/>
                </a:solidFill>
              </a:rPr>
              <a:t>, </a:t>
            </a:r>
            <a:r>
              <a:rPr sz="1000">
                <a:solidFill>
                  <a:srgbClr val="7C8F83"/>
                </a:solidFill>
                <a:latin typeface="Aptos"/>
                <a:hlinkClick r:id="rId3"/>
              </a:rPr>
              <a:t>W2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04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The Protagonist: SpongeBob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SpongeBob is a bright yellow, cheerful anthropomorphic sea sponge [W1, W2].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He works diligently as a fry cook at the local fast-food restaurant, the Krusty Krab [W1].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His well-meaning antics frequently lead to humorous, chaotic adventures [W1].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W1</a:t>
            </a:r>
            <a:r>
              <a:rPr sz="1000">
                <a:solidFill>
                  <a:srgbClr val="7C8F83"/>
                </a:solidFill>
              </a:rPr>
              <a:t>, </a:t>
            </a:r>
            <a:r>
              <a:rPr sz="1000">
                <a:solidFill>
                  <a:srgbClr val="7C8F83"/>
                </a:solidFill>
                <a:latin typeface="Aptos"/>
                <a:hlinkClick r:id="rId3"/>
              </a:rPr>
              <a:t>W2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05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Key Supporting Characters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Patrick Star is SpongeBob's loyal, slow-witted, and lovable starfish best friend [W1].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Squidward Tentacles is a grumpy octopus neighbor who dislikes their enthusiasm [W1].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Sandy Cheeks is an adventurous, science-loving squirrel living underwater in an air dome [W1].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W1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06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Business Rivals and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Mr. Krabs is the greedy owner of the Krusty Krab restaurant [W1].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Plankton runs the struggling competing restaurant, the Chum Bucket [W1].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Plankton constantly schemes to steal the secret Krabby Patty recipe [W1].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W1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07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Humor and Style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The show is celebrated for its distinctive brand of surreal comedy and slapstick [W2].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It appeals to both children and adults through layered humor and pop culture references [W2].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A signature Hawaiian-influenced soundtrack reinforces its unique coastal atmosphere [W2].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W2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08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Critical Acclaim and Awards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SpongeBob has received widespread critical acclaim and numerous industry accolades [W2].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Awards include multiple Emmy Awards, Annie Awards, and Kids' Choice Awards [W2].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It remains a defining cultural touchstone of modern television animation [W2].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W2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09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Franchise Expansion and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The franchise expanded into feature-length theatrical films and home video media [W1, W2].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Adaptations include a successful Broadway musical and various video games [W1, W2].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Spinoff series like Kamp Koral and The Patrick Star Show further extend the universe [W2].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W1</a:t>
            </a:r>
            <a:r>
              <a:rPr sz="1000">
                <a:solidFill>
                  <a:srgbClr val="7C8F83"/>
                </a:solidFill>
              </a:rPr>
              <a:t>, </a:t>
            </a:r>
            <a:r>
              <a:rPr sz="1000">
                <a:solidFill>
                  <a:srgbClr val="7C8F83"/>
                </a:solidFill>
                <a:latin typeface="Aptos"/>
                <a:hlinkClick r:id="rId3"/>
              </a:rPr>
              <a:t>W2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10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Enduring Legacy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01    Stephen Hillenburg left after early seasons and a movie, but returned later until 2018 [W2].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02    The series continues production and maintains a massive global fan base [W1, W3].</a:t>
            </a:r>
          </a:p>
          <a:p>
            <a:pPr>
              <a:spcAft>
                <a:spcPts val="1800"/>
              </a:spcAft>
              <a:defRPr sz="2000">
                <a:solidFill>
                  <a:srgbClr val="2D69AB"/>
                </a:solidFill>
                <a:latin typeface="Aptos"/>
              </a:defRPr>
            </a:pPr>
            <a:r>
              <a:t>03    SpongeBob SquarePants leaves a lasting legacy in popular culture and entertainment history [W1, W3].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W1</a:t>
            </a:r>
            <a:r>
              <a:rPr sz="1000">
                <a:solidFill>
                  <a:srgbClr val="7C8F83"/>
                </a:solidFill>
              </a:rPr>
              <a:t>, </a:t>
            </a:r>
            <a:r>
              <a:rPr sz="1000">
                <a:solidFill>
                  <a:srgbClr val="7C8F83"/>
                </a:solidFill>
                <a:latin typeface="Aptos"/>
                <a:hlinkClick r:id="rId3"/>
              </a:rPr>
              <a:t>W2</a:t>
            </a:r>
            <a:r>
              <a:rPr sz="1000">
                <a:solidFill>
                  <a:srgbClr val="7C8F83"/>
                </a:solidFill>
              </a:rPr>
              <a:t>, </a:t>
            </a:r>
            <a:r>
              <a:rPr sz="1000">
                <a:solidFill>
                  <a:srgbClr val="7C8F83"/>
                </a:solidFill>
                <a:latin typeface="Aptos"/>
                <a:hlinkClick r:id="rId4"/>
              </a:rPr>
              <a:t>W3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