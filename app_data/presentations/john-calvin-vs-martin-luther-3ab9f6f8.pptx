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85800"/>
            <a:ext cx="128016" cy="5394960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00584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8FD55D"/>
                </a:solidFill>
                <a:latin typeface="Aptos"/>
              </a:defRPr>
            </a:pPr>
            <a:r>
              <a:t>FIELD NOTES  / 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8755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600" b="1">
                <a:solidFill>
                  <a:srgbClr val="F7F7EF"/>
                </a:solidFill>
                <a:latin typeface="Aptos"/>
              </a:defRPr>
            </a:pPr>
            <a:r>
              <a:t>John Calvin vs. Martin Luther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605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0">
                <a:solidFill>
                  <a:srgbClr val="7C8F83"/>
                </a:solidFill>
                <a:latin typeface="Aptos"/>
              </a:defRPr>
            </a:pPr>
            <a:r>
              <a:t>A Detailed Comparison of Two Pillars of the Protestant Reformation</a:t>
            </a:r>
          </a:p>
        </p:txBody>
      </p:sp>
      <p:sp>
        <p:nvSpPr>
          <p:cNvPr id="6" name="Oval 5"/>
          <p:cNvSpPr/>
          <p:nvPr/>
        </p:nvSpPr>
        <p:spPr>
          <a:xfrm>
            <a:off x="10607040" y="5166360"/>
            <a:ext cx="640080" cy="640080"/>
          </a:xfrm>
          <a:prstGeom prst="ellipse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01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Introduction &amp; Historical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Martin Luther (1483–1546) was a German priest, theologian, and the seminal figure of the Protestant Reformation (https://en.wikipedia.org/wiki/Martin_Luther).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John Calvin (1509–1564) was a French theologian, pastor, and reformer in Geneva, representing the next generation of reform (https://en.wikipedia.org/wiki/John_Calvin).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Both figures rejected core Roman Catholic practices and papal authority, fundamentally reshaping Western Christian history.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02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Birthplaces and Backgrounds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Luther was born in Eisleben, County of Mansfeld, Holy Roman Empire, to Hans and Margarethe Luder (https://en.wikipedia.org/wiki/Martin_Luther).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Calvin was born Jehan Cauvin in Noyon, Picardy, France, to Gérard Cauvin and Jeanne le Franc (https://en.wikipedia.org/wiki/John_Calvin).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Luther's father worked in copper mining and local governance; Calvin's father was a cathedral notary and registrar.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03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Education and Early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Luther studied at the University of Erfurt, earning his Artium Magister in 1505 before entering St. Augustine's Monastery (https://en.wikipedia.org/wiki/Martin_Luther).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Calvin was originally trained as a humanist lawyer, studying at the Universities of Paris, Orléans, and Bourges (https://en.wikipedia.org/wiki/John_Calvin).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Calvin learned Koine Greek to study the New Testament, while Luther advanced through theological degrees at the University of Wittenberg.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04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Religious Life and Ordination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Luther entered an Augustinian monastery in 1505 and was ordained to the priesthood in Erfurt in 1507 (https://en.wikipedia.org/wiki/Martin_Luther).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Calvin was originally intended for the priesthood by his father, receiving the tonsure at age 12, but later shifted to law and humanist scholarship (https://en.wikipedia.org/wiki/John_Calvin).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Calvin broke from the Roman Catholic Church around 1530 following his religious conversion (https://en.wikipedia.org/wiki/John_Calvin).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05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Core Theological Doctrines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Luther taught justification by grace through faith alone, rejecting that salvation is earned by human acts or merits (https://en.wikipedia.org/wiki/Martin_Luther).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Calvin emphasized God's absolute sovereignty, predestination, and monergism in the salvation of human souls (https://en.wikipedia.org/wiki/John_Calvin).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Both theologians moved away from medieval scholasticism toward distinct Protestant systematic frameworks.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06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Major Writings and Publications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Luther initiated international debate on indulgences by authoring the Ninety-five Theses in 1517 (https://en.wikipedia.org/wiki/Martin_Luther).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Calvin published his seminal systematic work, Institutes of the Christian Religion, in 1536 (https://en.wikipedia.org/wiki/John_Calvin).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Both produced extensive biblical commentaries and theological treatises that shaped distinct ecclesial traditions.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07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Bible Translation and Accessibility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Luther translated the Bible into German (1534), making Scripture accessible to the laity and shaping the German language (https://en.wikipedia.org/wiki/Martin_Luther).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Calvin wrote extensive biblical commentaries on most books of the Bible and contributed to Reformed confessional texts (https://en.wikipedia.org/wiki/John_Calvin).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Both reformers prioritized vernacular Scripture and preaching as central to Christian worship and education.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08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Clerical Marriage and Family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Luther married Katharina von Bora, a former nun, in 1525, setting a model for Protestant clerical marriage (https://en.wikipedia.org/wiki/Martin_Luther).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Calvin married Idelette de Bure in 1540; she died in 1549, and their son Jacques died in infancy (https://en.wikipedia.org/wiki/John_Calvin).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Clerical marriage allowed Protestant leaders to normalize family life within the clergy.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09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Geographic Centers of Reform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Luther operated primarily out of Wittenberg in the Holy Roman Empire, teaching at the university and preaching locally (https://en.wikipedia.org/wiki/Martin_Luther).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Calvin based his ministry in Geneva, Switzerland, serving as pastor and reformer amidst political and civic challenges (https://en.wikipedia.org/wiki/John_Calvin).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Calvin also spent time in Strasbourg ministering to French refugees at the invitation of Martin Bucer (https://en.wikipedia.org/wiki/John_Calvin).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10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Controversies and Opposition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Luther was excommunicated by Pope Leo X in 1521 and condemned as an outlaw by Emperor Charles V at the Diet of Worms (https://en.wikipedia.org/wiki/Martin_Luther).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Calvin faced resistance from Geneva's governing council, experienced a period of expulsion, and later led church governance reforms (https://en.wikipedia.org/wiki/John_Calvin).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Calvin's tenure in Geneva also involved severe theological controversies, such as the execution of Michael Servetus for heresy (https://en.wikipedia.org/wiki/John_Calvin).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11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Writings on Non-Christians and Adversaries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In his later years, Luther wrote harshly against Jews, Roman Catholics, Anabaptists, and Zwingli (https://en.wikipedia.org/wiki/Martin_Luther).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Calvin engaged extensively in polemical and apologetic writing against Catholic doctrines and theological dissidents (https://en.wikipedia.org/wiki/John_Calvin).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Both reformers displayed uncompromising stances against theological views they considered heretical or contrary to Scripture.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12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Legacy and Denominational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Luther's theological beliefs formed the foundation of global Lutheranism and shaped Western history (https://en.wikipedia.org/wiki/Martin_Luther).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Calvin became the chief expositor of Reformed Christianity, influencing Continental Reformed, Presbyterian, and Congregational traditions (https://en.wikipedia.org/wiki/John_Calvin).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Both left enduring legacies in liturgy, hymnody, culture, and ecclesiastical organization worldwide.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